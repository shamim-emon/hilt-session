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Old Standard TT"/>
      <p:regular r:id="rId22"/>
      <p:bold r:id="rId23"/>
      <p: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font" Target="fonts/OldStandardTT-regular.fntdata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24" Type="http://schemas.openxmlformats.org/officeDocument/2006/relationships/font" Target="fonts/OldStandardTT-italic.fntdata"/><Relationship Id="rId12" Type="http://schemas.openxmlformats.org/officeDocument/2006/relationships/slide" Target="slides/slide7.xml"/><Relationship Id="rId23" Type="http://schemas.openxmlformats.org/officeDocument/2006/relationships/font" Target="fonts/OldStandardTT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3b792b6f2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3b792b6f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d3b792b6f2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d3b792b6f2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3b792b6f2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3b792b6f2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3b792b6f2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3b792b6f2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3b792b6f2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3b792b6f2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3b792b6f2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3b792b6f2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3b792b6f2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3b792b6f2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3b792b6f2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3b792b6f2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3b792b6f2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3b792b6f2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d3b792b6f2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d3b792b6f2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3b792b6f2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d3b792b6f2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3b792b6f2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3b792b6f2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d3b792b6f2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d3b792b6f2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3b792b6f2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3b792b6f2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3b792b6f2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3b792b6f2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3b792b6f2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3b792b6f2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" name="Google Shape;12;p2"/>
          <p:cNvSpPr txBox="1"/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" name="Google Shape;17;p3"/>
          <p:cNvSpPr txBox="1"/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perback">
    <p:bg>
      <p:bgPr>
        <a:solidFill>
          <a:schemeClr val="accen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393100" y="1317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 </a:t>
            </a:r>
            <a:endParaRPr/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251725" y="1915889"/>
            <a:ext cx="8118600" cy="78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1: Fundamentals of Dependency Injection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>
            <p:ph type="ctrTitle"/>
          </p:nvPr>
        </p:nvSpPr>
        <p:spPr>
          <a:xfrm>
            <a:off x="393100" y="1317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Dependency Injection </a:t>
            </a:r>
            <a:endParaRPr/>
          </a:p>
        </p:txBody>
      </p:sp>
      <p:sp>
        <p:nvSpPr>
          <p:cNvPr id="66" name="Google Shape;66;p14"/>
          <p:cNvSpPr txBox="1"/>
          <p:nvPr>
            <p:ph idx="1" type="subTitle"/>
          </p:nvPr>
        </p:nvSpPr>
        <p:spPr>
          <a:xfrm>
            <a:off x="251725" y="1915927"/>
            <a:ext cx="8259900" cy="27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Giving a class (client) the objects (services) it needs from </a:t>
            </a:r>
            <a:r>
              <a:rPr lang="en"/>
              <a:t>outside.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7" name="Google Shape;67;p14" title="Screenshot 2026-03-31 23053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2175" y="2838900"/>
            <a:ext cx="3619500" cy="885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/>
          <p:nvPr>
            <p:ph type="ctrTitle"/>
          </p:nvPr>
        </p:nvSpPr>
        <p:spPr>
          <a:xfrm>
            <a:off x="393100" y="1317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Use DI </a:t>
            </a:r>
            <a:endParaRPr/>
          </a:p>
        </p:txBody>
      </p:sp>
      <p:sp>
        <p:nvSpPr>
          <p:cNvPr id="73" name="Google Shape;73;p15"/>
          <p:cNvSpPr txBox="1"/>
          <p:nvPr>
            <p:ph idx="1" type="subTitle"/>
          </p:nvPr>
        </p:nvSpPr>
        <p:spPr>
          <a:xfrm>
            <a:off x="251725" y="1915927"/>
            <a:ext cx="8259900" cy="27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Reduce coupling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Improve testability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Better reusability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/>
          <p:nvPr>
            <p:ph type="ctrTitle"/>
          </p:nvPr>
        </p:nvSpPr>
        <p:spPr>
          <a:xfrm>
            <a:off x="393100" y="1317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Reduce Coupling (No DI) </a:t>
            </a:r>
            <a:endParaRPr/>
          </a:p>
        </p:txBody>
      </p:sp>
      <p:pic>
        <p:nvPicPr>
          <p:cNvPr id="79" name="Google Shape;79;p16" title="Screenshot 2026-03-31 23053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9267" y="1806900"/>
            <a:ext cx="5362575" cy="314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ctrTitle"/>
          </p:nvPr>
        </p:nvSpPr>
        <p:spPr>
          <a:xfrm>
            <a:off x="393100" y="1317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Reduce Coupling (DI)</a:t>
            </a:r>
            <a:endParaRPr/>
          </a:p>
        </p:txBody>
      </p:sp>
      <p:pic>
        <p:nvPicPr>
          <p:cNvPr id="85" name="Google Shape;85;p17" title="Screenshot 2026-03-31 23053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2657" y="1806900"/>
            <a:ext cx="5448300" cy="2695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8"/>
          <p:cNvSpPr txBox="1"/>
          <p:nvPr>
            <p:ph type="ctrTitle"/>
          </p:nvPr>
        </p:nvSpPr>
        <p:spPr>
          <a:xfrm>
            <a:off x="393100" y="1317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Improve Testability</a:t>
            </a:r>
            <a:endParaRPr/>
          </a:p>
        </p:txBody>
      </p:sp>
      <p:pic>
        <p:nvPicPr>
          <p:cNvPr id="91" name="Google Shape;91;p18" title="Screenshot 2026-03-31 23053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72850" y="1904775"/>
            <a:ext cx="4448175" cy="2924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>
            <p:ph type="ctrTitle"/>
          </p:nvPr>
        </p:nvSpPr>
        <p:spPr>
          <a:xfrm>
            <a:off x="393100" y="1317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Reusability</a:t>
            </a:r>
            <a:endParaRPr/>
          </a:p>
        </p:txBody>
      </p:sp>
      <p:pic>
        <p:nvPicPr>
          <p:cNvPr id="97" name="Google Shape;97;p19" title="Screenshot 2026-03-31 23053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4550" y="2916075"/>
            <a:ext cx="4914900" cy="55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>
            <p:ph type="ctrTitle"/>
          </p:nvPr>
        </p:nvSpPr>
        <p:spPr>
          <a:xfrm>
            <a:off x="393100" y="1317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With Manual DI </a:t>
            </a:r>
            <a:endParaRPr/>
          </a:p>
        </p:txBody>
      </p:sp>
      <p:sp>
        <p:nvSpPr>
          <p:cNvPr id="103" name="Google Shape;103;p20"/>
          <p:cNvSpPr txBox="1"/>
          <p:nvPr>
            <p:ph idx="1" type="subTitle"/>
          </p:nvPr>
        </p:nvSpPr>
        <p:spPr>
          <a:xfrm>
            <a:off x="251725" y="1915917"/>
            <a:ext cx="8118600" cy="201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Lot’s of boilerplate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Harder to maintain as codebase grows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1"/>
          <p:cNvSpPr txBox="1"/>
          <p:nvPr>
            <p:ph type="ctrTitle"/>
          </p:nvPr>
        </p:nvSpPr>
        <p:spPr>
          <a:xfrm>
            <a:off x="393100" y="1317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Hilt As Dependency Framework </a:t>
            </a:r>
            <a:endParaRPr/>
          </a:p>
        </p:txBody>
      </p:sp>
      <p:sp>
        <p:nvSpPr>
          <p:cNvPr id="109" name="Google Shape;109;p21"/>
          <p:cNvSpPr txBox="1"/>
          <p:nvPr>
            <p:ph idx="1" type="subTitle"/>
          </p:nvPr>
        </p:nvSpPr>
        <p:spPr>
          <a:xfrm>
            <a:off x="251725" y="1915917"/>
            <a:ext cx="8118600" cy="201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Reduced boilerplate.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Intuitive once understood.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Advance mechanism and capabilities. 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2"/>
          <p:cNvSpPr txBox="1"/>
          <p:nvPr>
            <p:ph type="ctrTitle"/>
          </p:nvPr>
        </p:nvSpPr>
        <p:spPr>
          <a:xfrm>
            <a:off x="393100" y="1317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Ways of Injection </a:t>
            </a:r>
            <a:endParaRPr/>
          </a:p>
        </p:txBody>
      </p:sp>
      <p:sp>
        <p:nvSpPr>
          <p:cNvPr id="115" name="Google Shape;115;p22"/>
          <p:cNvSpPr txBox="1"/>
          <p:nvPr>
            <p:ph idx="1" type="subTitle"/>
          </p:nvPr>
        </p:nvSpPr>
        <p:spPr>
          <a:xfrm>
            <a:off x="251725" y="1915917"/>
            <a:ext cx="8118600" cy="201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Constructor Injection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Field Injection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Method Injection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ctrTitle"/>
          </p:nvPr>
        </p:nvSpPr>
        <p:spPr>
          <a:xfrm>
            <a:off x="393100" y="1317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Constructor Injection</a:t>
            </a:r>
            <a:endParaRPr/>
          </a:p>
        </p:txBody>
      </p:sp>
      <p:sp>
        <p:nvSpPr>
          <p:cNvPr id="121" name="Google Shape;121;p23"/>
          <p:cNvSpPr txBox="1"/>
          <p:nvPr>
            <p:ph idx="1" type="subTitle"/>
          </p:nvPr>
        </p:nvSpPr>
        <p:spPr>
          <a:xfrm>
            <a:off x="251725" y="1915917"/>
            <a:ext cx="8118600" cy="201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Use when you control the class and can inject dependencies via constructor</a:t>
            </a:r>
            <a:r>
              <a:rPr lang="en"/>
              <a:t> (Most </a:t>
            </a:r>
            <a:r>
              <a:rPr lang="en"/>
              <a:t>preferred)</a:t>
            </a:r>
            <a:r>
              <a:rPr lang="en"/>
              <a:t> 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ctrTitle"/>
          </p:nvPr>
        </p:nvSpPr>
        <p:spPr>
          <a:xfrm>
            <a:off x="393100" y="1317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Constructor Injection</a:t>
            </a:r>
            <a:endParaRPr/>
          </a:p>
        </p:txBody>
      </p:sp>
      <p:pic>
        <p:nvPicPr>
          <p:cNvPr id="127" name="Google Shape;127;p24" title="Screenshot 2026-03-31 23480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08565" y="2498313"/>
            <a:ext cx="4152900" cy="134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5"/>
          <p:cNvSpPr txBox="1"/>
          <p:nvPr>
            <p:ph type="ctrTitle"/>
          </p:nvPr>
        </p:nvSpPr>
        <p:spPr>
          <a:xfrm>
            <a:off x="393100" y="1317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Field Injection</a:t>
            </a:r>
            <a:endParaRPr/>
          </a:p>
        </p:txBody>
      </p:sp>
      <p:sp>
        <p:nvSpPr>
          <p:cNvPr id="133" name="Google Shape;133;p25"/>
          <p:cNvSpPr txBox="1"/>
          <p:nvPr>
            <p:ph idx="1" type="subTitle"/>
          </p:nvPr>
        </p:nvSpPr>
        <p:spPr>
          <a:xfrm>
            <a:off x="251725" y="1915917"/>
            <a:ext cx="8118600" cy="201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Used when Android creates the class (Activity, Fragment, etc.)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6"/>
          <p:cNvSpPr txBox="1"/>
          <p:nvPr>
            <p:ph type="ctrTitle"/>
          </p:nvPr>
        </p:nvSpPr>
        <p:spPr>
          <a:xfrm>
            <a:off x="393100" y="1317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Field Injection</a:t>
            </a:r>
            <a:endParaRPr/>
          </a:p>
        </p:txBody>
      </p:sp>
      <p:pic>
        <p:nvPicPr>
          <p:cNvPr id="139" name="Google Shape;139;p26" title="Screenshot 2026-03-31 23480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7850" y="2046125"/>
            <a:ext cx="5448300" cy="264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7"/>
          <p:cNvSpPr txBox="1"/>
          <p:nvPr>
            <p:ph type="ctrTitle"/>
          </p:nvPr>
        </p:nvSpPr>
        <p:spPr>
          <a:xfrm>
            <a:off x="393100" y="1317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Method Injection</a:t>
            </a:r>
            <a:endParaRPr/>
          </a:p>
        </p:txBody>
      </p:sp>
      <p:sp>
        <p:nvSpPr>
          <p:cNvPr id="145" name="Google Shape;145;p27"/>
          <p:cNvSpPr txBox="1"/>
          <p:nvPr>
            <p:ph idx="1" type="subTitle"/>
          </p:nvPr>
        </p:nvSpPr>
        <p:spPr>
          <a:xfrm>
            <a:off x="251725" y="1915917"/>
            <a:ext cx="8118600" cy="201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Used when dependency is needed only at a specific time or setup step.</a:t>
            </a:r>
            <a:endParaRPr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When field injection is not possibly until certain time.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8"/>
          <p:cNvSpPr txBox="1"/>
          <p:nvPr>
            <p:ph type="ctrTitle"/>
          </p:nvPr>
        </p:nvSpPr>
        <p:spPr>
          <a:xfrm>
            <a:off x="393100" y="1317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Method Injection</a:t>
            </a:r>
            <a:endParaRPr/>
          </a:p>
        </p:txBody>
      </p:sp>
      <p:pic>
        <p:nvPicPr>
          <p:cNvPr id="151" name="Google Shape;151;p28" title="Screenshot 2026-03-31 23480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38700" y="1796025"/>
            <a:ext cx="4866598" cy="3184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