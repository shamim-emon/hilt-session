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Old Standard TT"/>
      <p:regular r:id="rId33"/>
      <p:bold r:id="rId34"/>
      <p: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OldStandardT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OldStandardTT-italic.fntdata"/><Relationship Id="rId12" Type="http://schemas.openxmlformats.org/officeDocument/2006/relationships/slide" Target="slides/slide7.xml"/><Relationship Id="rId34" Type="http://schemas.openxmlformats.org/officeDocument/2006/relationships/font" Target="fonts/OldStandardTT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3b792b6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3b792b6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3b792b6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3b792b6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b792b6f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3b792b6f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3b792b6f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3b792b6f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3b792b6f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3b792b6f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3b792b6f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3b792b6f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3b792b6f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3b792b6f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3b792b6f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3b792b6f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3b792b6f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3b792b6f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3b792b6f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3b792b6f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3b792b6f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3b792b6f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3b792b6f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3b792b6f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3b792b6f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3b792b6f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3b792b6f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3b792b6f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b792b6f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3b792b6f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3b792b6f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3b792b6f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be69fa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3be69fa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3be69fa0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3be69fa0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3be69fa0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3be69fa0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3be69fa0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3be69fa0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3be69fa0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3be69fa0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3be69fa0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3be69fa0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3be69fa0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3be69fa0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3be69fa0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3be69fa0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3be69fa0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3be69fa0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3be69fa0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3be69fa0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3be69fa0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3be69fa0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Injection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51725" y="191588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1: Fundamentals of Dependency Injection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Dependency Injection </a:t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251725" y="1915927"/>
            <a:ext cx="8259900" cy="27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Giving a class (client) the objects (services) it needs from </a:t>
            </a:r>
            <a:r>
              <a:rPr lang="en"/>
              <a:t>outside.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Screenshot 2026-03-31 2305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75" y="2838900"/>
            <a:ext cx="361950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DI </a:t>
            </a:r>
            <a:endParaRPr/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251725" y="1915927"/>
            <a:ext cx="8259900" cy="27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Reduce coupling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Improve testability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Better reusability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Coupling (No DI) </a:t>
            </a:r>
            <a:endParaRPr/>
          </a:p>
        </p:txBody>
      </p:sp>
      <p:pic>
        <p:nvPicPr>
          <p:cNvPr id="79" name="Google Shape;79;p16" title="Screenshot 2026-03-31 2305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67" y="1806900"/>
            <a:ext cx="536257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Coupling (DI)</a:t>
            </a:r>
            <a:endParaRPr/>
          </a:p>
        </p:txBody>
      </p:sp>
      <p:pic>
        <p:nvPicPr>
          <p:cNvPr id="85" name="Google Shape;85;p17" title="Screenshot 2026-03-31 2305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657" y="1806900"/>
            <a:ext cx="54483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 Testability</a:t>
            </a:r>
            <a:endParaRPr/>
          </a:p>
        </p:txBody>
      </p:sp>
      <p:pic>
        <p:nvPicPr>
          <p:cNvPr id="91" name="Google Shape;91;p18" title="Screenshot 2026-03-31 2305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850" y="1904775"/>
            <a:ext cx="4448175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Reusability</a:t>
            </a:r>
            <a:endParaRPr/>
          </a:p>
        </p:txBody>
      </p:sp>
      <p:pic>
        <p:nvPicPr>
          <p:cNvPr id="97" name="Google Shape;97;p19" title="Screenshot 2026-03-31 2305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550" y="2916075"/>
            <a:ext cx="4914900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With Manual DI </a:t>
            </a:r>
            <a:endParaRPr/>
          </a:p>
        </p:txBody>
      </p:sp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251725" y="1915917"/>
            <a:ext cx="8118600" cy="20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Lot’s of boilerplate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Harder to maintain as codebase grows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Hilt As Dependency Framework </a:t>
            </a:r>
            <a:endParaRPr/>
          </a:p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251725" y="1915917"/>
            <a:ext cx="8118600" cy="20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Reduced boilerplate.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Intuitive once understood.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Advance mechanism and capabilities.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of Injection </a:t>
            </a:r>
            <a:endParaRPr/>
          </a:p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251725" y="1915917"/>
            <a:ext cx="8118600" cy="20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Constructor Injection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Field Injection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Method Injection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Constructor Injection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51725" y="1915917"/>
            <a:ext cx="8118600" cy="20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when you control the class and can inject dependencies via constructor</a:t>
            </a:r>
            <a:r>
              <a:rPr lang="en"/>
              <a:t> (Most </a:t>
            </a:r>
            <a:r>
              <a:rPr lang="en"/>
              <a:t>preferred)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Constructor Injection</a:t>
            </a:r>
            <a:endParaRPr/>
          </a:p>
        </p:txBody>
      </p:sp>
      <p:pic>
        <p:nvPicPr>
          <p:cNvPr id="127" name="Google Shape;127;p24" title="Screenshot 2026-03-31 2348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8565" y="2498313"/>
            <a:ext cx="415290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 Injection</a:t>
            </a:r>
            <a:endParaRPr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251725" y="1915917"/>
            <a:ext cx="8118600" cy="20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Used when Android creates the class (Activity, Fragment, etc.)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 Injection</a:t>
            </a:r>
            <a:endParaRPr/>
          </a:p>
        </p:txBody>
      </p:sp>
      <p:pic>
        <p:nvPicPr>
          <p:cNvPr id="139" name="Google Shape;139;p26" title="Screenshot 2026-03-31 2348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850" y="2046125"/>
            <a:ext cx="544830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Injection</a:t>
            </a:r>
            <a:endParaRPr/>
          </a:p>
        </p:txBody>
      </p:sp>
      <p:sp>
        <p:nvSpPr>
          <p:cNvPr id="145" name="Google Shape;145;p27"/>
          <p:cNvSpPr txBox="1"/>
          <p:nvPr>
            <p:ph idx="1" type="subTitle"/>
          </p:nvPr>
        </p:nvSpPr>
        <p:spPr>
          <a:xfrm>
            <a:off x="251725" y="1915917"/>
            <a:ext cx="8118600" cy="20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Used when dependency is needed only at a specific time or setup step.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When field injection is not possible until certain point of time.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Injection</a:t>
            </a:r>
            <a:endParaRPr/>
          </a:p>
        </p:txBody>
      </p:sp>
      <p:pic>
        <p:nvPicPr>
          <p:cNvPr id="151" name="Google Shape;151;p28" title="Screenshot 2026-03-31 2348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700" y="1796025"/>
            <a:ext cx="4866598" cy="31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Question</a:t>
            </a:r>
            <a:endParaRPr/>
          </a:p>
        </p:txBody>
      </p:sp>
      <p:sp>
        <p:nvSpPr>
          <p:cNvPr id="157" name="Google Shape;157;p29"/>
          <p:cNvSpPr txBox="1"/>
          <p:nvPr>
            <p:ph idx="1" type="subTitle"/>
          </p:nvPr>
        </p:nvSpPr>
        <p:spPr>
          <a:xfrm>
            <a:off x="251725" y="1915928"/>
            <a:ext cx="81186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Does below code snippet violets DI pattern or not?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9" title="Screenshot 2026-04-01 0034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450" y="2702378"/>
            <a:ext cx="4605911" cy="2266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Hilt Components</a:t>
            </a:r>
            <a:endParaRPr/>
          </a:p>
        </p:txBody>
      </p:sp>
      <p:sp>
        <p:nvSpPr>
          <p:cNvPr id="164" name="Google Shape;164;p30"/>
          <p:cNvSpPr txBox="1"/>
          <p:nvPr>
            <p:ph idx="1" type="subTitle"/>
          </p:nvPr>
        </p:nvSpPr>
        <p:spPr>
          <a:xfrm>
            <a:off x="251725" y="1915929"/>
            <a:ext cx="8118600" cy="30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Each dependency is bound to a certain component.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Components define lifecycle and scope of dependencies.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Hilt comes with built in components where we can install our dependencies as per our needs.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We can define our own component if needed.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Important Components: SingletonComponent, ViewModelComponent, ActivityComponent.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SingletonComponent</a:t>
            </a:r>
            <a:endParaRPr/>
          </a:p>
        </p:txBody>
      </p:sp>
      <p:sp>
        <p:nvSpPr>
          <p:cNvPr id="170" name="Google Shape;170;p31"/>
          <p:cNvSpPr txBox="1"/>
          <p:nvPr>
            <p:ph idx="1" type="subTitle"/>
          </p:nvPr>
        </p:nvSpPr>
        <p:spPr>
          <a:xfrm>
            <a:off x="251725" y="1915929"/>
            <a:ext cx="8118600" cy="30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Lives as long as the application lives.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Dependencies of this component are accessible across application.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ViewModel Component</a:t>
            </a:r>
            <a:endParaRPr/>
          </a:p>
        </p:txBody>
      </p:sp>
      <p:sp>
        <p:nvSpPr>
          <p:cNvPr id="176" name="Google Shape;176;p32"/>
          <p:cNvSpPr txBox="1"/>
          <p:nvPr>
            <p:ph idx="1" type="subTitle"/>
          </p:nvPr>
        </p:nvSpPr>
        <p:spPr>
          <a:xfrm>
            <a:off x="251725" y="1915929"/>
            <a:ext cx="8118600" cy="30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Lifecycle tied per viewModel.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Dependencies of this component are accessible across viewModels.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Component</a:t>
            </a:r>
            <a:endParaRPr/>
          </a:p>
        </p:txBody>
      </p:sp>
      <p:sp>
        <p:nvSpPr>
          <p:cNvPr id="182" name="Google Shape;182;p33"/>
          <p:cNvSpPr txBox="1"/>
          <p:nvPr>
            <p:ph idx="1" type="subTitle"/>
          </p:nvPr>
        </p:nvSpPr>
        <p:spPr>
          <a:xfrm>
            <a:off x="251725" y="1915929"/>
            <a:ext cx="8118600" cy="30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Lives per Activity lifecycle.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Used for activity specific dependencies.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Hierarchy </a:t>
            </a:r>
            <a:endParaRPr/>
          </a:p>
        </p:txBody>
      </p:sp>
      <p:pic>
        <p:nvPicPr>
          <p:cNvPr id="188" name="Google Shape;188;p34" title="Screenshot 2026-04-01 0034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650" y="1785150"/>
            <a:ext cx="3868695" cy="31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Default Binding</a:t>
            </a:r>
            <a:endParaRPr/>
          </a:p>
        </p:txBody>
      </p:sp>
      <p:pic>
        <p:nvPicPr>
          <p:cNvPr id="194" name="Google Shape;194;p35" title="Screenshot 2026-04-01 0034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113" y="1850400"/>
            <a:ext cx="764857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</a:t>
            </a:r>
            <a:endParaRPr/>
          </a:p>
        </p:txBody>
      </p:sp>
      <p:sp>
        <p:nvSpPr>
          <p:cNvPr id="200" name="Google Shape;200;p36"/>
          <p:cNvSpPr txBox="1"/>
          <p:nvPr>
            <p:ph idx="1" type="subTitle"/>
          </p:nvPr>
        </p:nvSpPr>
        <p:spPr>
          <a:xfrm>
            <a:off x="251725" y="1915929"/>
            <a:ext cx="8118600" cy="30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We use it to create dependencies.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Also sets in which component these </a:t>
            </a:r>
            <a:r>
              <a:rPr lang="en"/>
              <a:t>dependencies</a:t>
            </a:r>
            <a:r>
              <a:rPr lang="en"/>
              <a:t> would be installed/available.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</a:t>
            </a:r>
            <a:endParaRPr/>
          </a:p>
        </p:txBody>
      </p:sp>
      <p:pic>
        <p:nvPicPr>
          <p:cNvPr id="206" name="Google Shape;206;p37" title="Screenshot 2026-04-01 0034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825" y="1774275"/>
            <a:ext cx="5600781" cy="31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</a:t>
            </a:r>
            <a:endParaRPr/>
          </a:p>
        </p:txBody>
      </p:sp>
      <p:sp>
        <p:nvSpPr>
          <p:cNvPr id="212" name="Google Shape;212;p38"/>
          <p:cNvSpPr txBox="1"/>
          <p:nvPr>
            <p:ph idx="1" type="subTitle"/>
          </p:nvPr>
        </p:nvSpPr>
        <p:spPr>
          <a:xfrm>
            <a:off x="251725" y="1915929"/>
            <a:ext cx="8118600" cy="30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All modules installed in the same component share their dependencies.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ctrTitle"/>
          </p:nvPr>
        </p:nvSpPr>
        <p:spPr>
          <a:xfrm>
            <a:off x="393100" y="1317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</a:t>
            </a:r>
            <a:endParaRPr/>
          </a:p>
        </p:txBody>
      </p:sp>
      <p:pic>
        <p:nvPicPr>
          <p:cNvPr id="218" name="Google Shape;218;p39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71750"/>
            <a:ext cx="8839200" cy="1620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